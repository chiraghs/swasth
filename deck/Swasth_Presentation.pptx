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93B67"/>
                </a:solidFill>
              </a:defRPr>
            </a:pPr>
            <a:r>
              <a:t>SWASTH (मातृ-स्वास्थ्य)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AI-Powered Multilingual Long-Term Care Companion, Birth Clubs &amp; Continuity Platform</a:t>
            </a:r>
          </a:p>
          <a:p>
            <a:pPr>
              <a:spcBef>
                <a:spcPts val="1800"/>
              </a:spcBef>
              <a:defRPr sz="1300">
                <a:solidFill>
                  <a:srgbClr val="94A3B8"/>
                </a:solidFill>
              </a:defRPr>
            </a:pPr>
            <a:r>
              <a:t>Maternal &amp; Women's Health Track  |  Primary User: Patient &amp; Caregiver  |  Use Case: Long-Term Care Engagement</a:t>
            </a:r>
          </a:p>
          <a:p>
            <a:pPr>
              <a:spcBef>
                <a:spcPts val="2400"/>
              </a:spcBef>
              <a:defRPr sz="1200">
                <a:solidFill>
                  <a:srgbClr val="CBD5E1"/>
                </a:solidFill>
              </a:defRPr>
            </a:pPr>
            <a:r>
              <a:t>• Daily Garbh Sanskar Micro-Activities  • Hyperlocal Birth Clubs &amp; Peer Support Circles</a:t>
            </a:r>
            <a:br/>
            <a:r>
              <a:t>• Multilingual Caregiver Sync (Hindi, Malayalam, Tamil)  • 24/7 Offline Access  • Zero Diagnostic Risk</a:t>
            </a:r>
            <a:br/>
            <a:r>
              <a:t>• Enterprise Open-Source Stack: Flutter + React + Python FastAPI + NVIDIA Nemotron / Llama 3 +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MATERNAL &amp; WOMEN'S HEALTH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Unseen Crisis: Why Long-Term Maternal Care Breaks 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E93B67"/>
                </a:solidFill>
              </a:defRPr>
            </a:pPr>
            <a:r>
              <a:t>The Post-Discharge Cliff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Maternal and infant care requires 1,000+ days across 4 ANC checks, delivery, and 7 vaccine cohorts.</a:t>
            </a:r>
            <a:br/>
            <a:br/>
            <a:r>
              <a:t>Yet, over 25-30% of mothers and infants drop out of scheduled milestones within months after hospital discharge.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4A6FA5"/>
                </a:solidFill>
              </a:defRPr>
            </a:pPr>
            <a:r>
              <a:t>Administrative Overload &amp; Isolation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Dropouts are rarely due to medical negligence—they stem from administrative friction and emotional isolation.</a:t>
            </a:r>
            <a:br/>
            <a:br/>
            <a:r>
              <a:t>Caregivers navigate fragile paper MCP cards, unclear clinic timings, and lack peer circles in their neighborhood.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The 'Clinical App' Trap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Conventional health apps fail because they are cold and transactional. Patients open them only when an alert fires, leading to 80%+ abandonment in 30 days.</a:t>
            </a:r>
            <a:br/>
            <a:br/>
            <a:r>
              <a:t>Without daily cultural rituals and peer community, long-term continuity collapses.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MATERNAL &amp; WOMEN'S HEALTH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Solution: Swasth's 'Daily Hook &amp; Care Bridge'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E93B67"/>
                </a:solidFill>
              </a:defRPr>
            </a:pPr>
            <a:r>
              <a:t>THE DAILY ENGAGEMENT HOOK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Garbh Sanskar Rituals &amp; Hyperlocal Birth Clubs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Daily 4Q Holistic Activities: 12 daily micro-habits across IQ, EQ (emotional), PQ (prenatal mobility), and SQ (spiritual calming).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Hyperlocal Birth Clubs: Cohort circles based on expected delivery month and neighborhood/PHC radius for peer sharing and empathy.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Garbh Samvaad &amp; Raga Music: Soothing maternal lullabies, positive affirmations, and partner speaking sessions.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Guardrail Moderation: NeMo AI guards peer questions against misinformation, instantly directing clinical symptoms to doctors.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4A6FA5"/>
                </a:solidFill>
              </a:defRPr>
            </a:pPr>
            <a:r>
              <a:t>THE HEALTHCARE CONTINUITY BRIDGE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Vaccination, Diet &amp; Caregiver Continuity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Smart Vaccine Tracker: Automates 6, 10, 14-week and 9-month immunization schedules with vernacular voice reminders.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Stage Weaning &amp; Diet Plans: Doctor-approved month-by-month infant food charts and maternal lactation nutrition.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Family &amp; Caregiver Sync: Syncs reminders with partners, grandmothers, and local ASHA/ANMs via WhatsApp and voice.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24/7 Offline Sync: Functions completely without internet, syncing encrypted data when signal resumes.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Strict Non-Clinical Boundary: 0% diagnostic advice. Symptoms immediately route to primary health center emergency channels.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MATERNAL &amp; WOMEN'S HEALTH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Full Alignment with SWASTH's 6 Core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01. Care Journey Companion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Stage-aware guidance tailored across planning, trimester weeks, and 0-24 month infancy. Clear guidance on what to prepare and when to visit.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02. Long-Term Engagement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Sustained adherence over months &amp; years via Garbh Sanskar daily micro-habits, birth club peer communities, and milestone streaks.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03. Family &amp; Caregiver Support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Caregiver synchronization tools empowering husbands and elders with localized voice/WhatsApp alerts, reducing stress on the mother.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04. Healthcare Navigation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Clear operational next steps across clinic token counters, lab tests, ultrasound schedules, and PHC-to-District referral handoffs.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05. Financial &amp; Admin Support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Simplifies maternity schemes (PMMVY, JSY, JSSK) and hospital documentation so financial paperwork never delays care.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06. Longitudinal Journey Progress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 simple, visual timeline of completed, pending, and upcoming clinical and developmental milestones at a single glance.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MATERNAL &amp; WOMEN'S HEALTH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App Design Showcase: Daily Rituals, Tools &amp; Birth Clubs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wasth_app_design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1323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691640"/>
            <a:ext cx="347472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200" b="1">
                <a:solidFill>
                  <a:srgbClr val="E93B67"/>
                </a:solidFill>
              </a:defRPr>
            </a:pPr>
            <a:r>
              <a:t>CORE SCREENS SHOWCASED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1. Daily 4Q Schedule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12 daily activities across IQ, EQ, PQ, and SQ with day-by-day progress tracking.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2. Smart Tools &amp; Scanner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Quick access to MCP card scanner, water tracker, steps walk, and scheme aids.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3. Hyperlocal Birth Clubs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Connecting mothers in nearby PHC circles with AI guardrail-moderated peer sharing.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4. Vaccine &amp; Diet Tracker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Upcoming 6/10/14-week vaccine cohorts and doctor-approved stage weaning meals.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MATERNAL &amp; WOMEN'S HEALTH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Enterprise Open-Source Architecture: Speed &amp;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011680" cy="42062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1500" b="1">
                <a:solidFill>
                  <a:srgbClr val="E93B67"/>
                </a:solidFill>
              </a:defRPr>
            </a:pPr>
            <a:r>
              <a:t>Client Layer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Flutter Mobile App</a:t>
            </a:r>
            <a:br/>
            <a:r>
              <a:t>(iOS &amp; Android native 60 FPS)</a:t>
            </a:r>
            <a:br/>
            <a:r>
              <a:t>+ React/TypeScript Web backup</a:t>
            </a:r>
            <a:br/>
            <a:r>
              <a:t>Encrypted local offline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920240"/>
            <a:ext cx="2011680" cy="42062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1500" b="1">
                <a:solidFill>
                  <a:srgbClr val="4A6FA5"/>
                </a:solidFill>
              </a:defRPr>
            </a:pPr>
            <a:r>
              <a:t>Single Unified API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Python (FastAPI)</a:t>
            </a:r>
            <a:br/>
            <a:r>
              <a:t>Async microservices, REST &amp; WebSockets, ABHA ID auth, sub-5ms indexed response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920240"/>
            <a:ext cx="2011680" cy="42062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Agent Orchestration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LangChain / LangGraph</a:t>
            </a:r>
            <a:br/>
            <a:r>
              <a:t>vLLM-accelerated open-weights models:</a:t>
            </a:r>
            <a:br/>
            <a:r>
              <a:t>NVIDIA Nemotron / Llama 3 for sub-second milestone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920240"/>
            <a:ext cx="2011680" cy="42062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Multilingual Voice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Open-source Whisper &amp;</a:t>
            </a:r>
            <a:br/>
            <a:r>
              <a:t>AI4Bharat IndicTrans2 / Bhashini</a:t>
            </a:r>
            <a:br/>
            <a:r>
              <a:t>Native support for 10+ Indic languages and voice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920240"/>
            <a:ext cx="2011680" cy="42062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Data &amp; Audit Ledger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Enterprise PostgreSQL</a:t>
            </a:r>
            <a:br/>
            <a:r>
              <a:t>Encrypted row-level security, patient records, and append-only compliance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MATERNAL &amp; WOMEN'S HEALTH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Clinical Safety: Zero Diagnostic Risk &amp; Guardrail Moderation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E93B67"/>
                </a:solidFill>
              </a:defRPr>
            </a:pPr>
            <a:r>
              <a:t>Strict Non-Clinical Boundary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0% Diagnostic Advice: Never provides medical risk scores, diagnostic labels, or lab test interpretations.</a:t>
            </a:r>
            <a:br/>
            <a:r>
              <a:t>• 0% Treatment Prescriptions: Never suggests medications, dosage changes, or clinical therapies.</a:t>
            </a:r>
            <a:br/>
            <a:r>
              <a:t>• Non-Clinical Scope: Limited strictly to administrative scheduling, nutrition reminders, non-strenuous lifestyle, and welfare schemes.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4A6FA5"/>
                </a:solidFill>
              </a:defRPr>
            </a:pPr>
            <a:r>
              <a:t>NVIDIA NeMo Guardrails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Real-time semantic guardrails run directly in memory on every user prompt and response.</a:t>
            </a:r>
            <a:br/>
            <a:r>
              <a:t>• Symptom Interception: If a mother mentions clinical symptoms (e.g. bleeding, severe pain, high fever), NeMo immediately halts automation.</a:t>
            </a:r>
            <a:br/>
            <a:r>
              <a:t>• Safe Direct Protocol: Instantly delivers emergency clinic helpline numbers and maps nearest PHC.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Human-in-the-Loop &amp; Auditability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Clinician &amp; ANM Oversight: Frontline staff review milestone rosters and due-lists with 1-click approvals.</a:t>
            </a:r>
            <a:br/>
            <a:r>
              <a:t>• Append-Only Audit Trail: Every AI-generated recommendation, user interaction, and clinic override is permanently logged in PostgreSQL.</a:t>
            </a:r>
            <a:br/>
            <a:r>
              <a:t>• Full Patient &amp; Family Consent: Caregiver synchronization requires explicit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MATERNAL &amp; WOMEN'S HEALTH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Measurable Operational Outcomes within 60–90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E93B67"/>
                </a:solidFill>
              </a:defRPr>
            </a:pPr>
            <a:r>
              <a:t>85% Drop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Frontline Admin Burden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Reduces ASHA/ANM time spent tallying paper due-lists from 10 hrs to &lt;1.5 hrs/week.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56032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E93B67"/>
                </a:solidFill>
              </a:defRPr>
            </a:pPr>
            <a:r>
              <a:t>90%+ Retention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Immunization Milestones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Reduces 6 to 14-week infant vaccine dropouts through localized caregiver voice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56032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E93B67"/>
                </a:solidFill>
              </a:defRPr>
            </a:pPr>
            <a:r>
              <a:t>4x Higher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Caregiver &amp; Peer Activity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Birth Clubs &amp; WhatsApp synchronization drive proactive family and community involvement.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56032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E93B67"/>
                </a:solidFill>
              </a:defRPr>
            </a:pPr>
            <a:r>
              <a:t>100% Safe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Regulatory Compliance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Full audit logging and zero unreviewed clinical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EXECUTION &amp; ROLLOUT ROADMAP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➔ Day 1–30 (Prototype &amp; Guardrail Audit): Deploy Flutter mobile client + Python backend; benchmark open-source Nemotron on vLLM; validate NeMo non-clinical guardrails.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➔ Day 31–60 (Pilot with 5 PHCs &amp; Birth Clubs): Onboard 500 expectant mothers &amp; caregivers; launch 5 localized Birth Clubs; track daily Garbh Sanskar engagement and vaccine adherence.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➔ Day 61–90 (Longitudinal Scaling &amp; Portal Integration): Synchronize with state HMIS/RCH registers; export verified administrative audit reports; expand vernacular voice models into 10+ dialects.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