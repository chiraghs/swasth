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E93B67"/>
                </a:solidFill>
              </a:defRPr>
            </a:pPr>
            <a:r>
              <a:t>SWASTH (Maternal Health)</a:t>
            </a:r>
          </a:p>
          <a:p>
            <a:pPr>
              <a:spcBef>
                <a:spcPts val="1200"/>
              </a:spcBef>
              <a:defRPr sz="2200">
                <a:solidFill>
                  <a:srgbClr val="FFFFFF"/>
                </a:solidFill>
              </a:defRPr>
            </a:pPr>
            <a:r>
              <a:t>AI-Powered Multilingual Long-Term Care Companion, Birth Clubs &amp; Continuity Platform</a:t>
            </a:r>
          </a:p>
          <a:p>
            <a:pPr>
              <a:spcBef>
                <a:spcPts val="1800"/>
              </a:spcBef>
              <a:defRPr sz="1300">
                <a:solidFill>
                  <a:srgbClr val="94A3B8"/>
                </a:solidFill>
              </a:defRPr>
            </a:pPr>
            <a:r>
              <a:t>Maternal &amp; Women's Health Track  |  Primary User: Patient &amp; Caregiver  |  Use Case: Long-Term Care Engagement</a:t>
            </a:r>
          </a:p>
          <a:p>
            <a:pPr>
              <a:spcBef>
                <a:spcPts val="2400"/>
              </a:spcBef>
              <a:defRPr sz="1200">
                <a:solidFill>
                  <a:srgbClr val="CBD5E1"/>
                </a:solidFill>
              </a:defRPr>
            </a:pPr>
            <a:r>
              <a:t>• Daily Garbh Sanskar Micro-Activities  • Hyperlocal Birth Clubs &amp; Peer Support Circles</a:t>
            </a:r>
            <a:br/>
            <a:r>
              <a:t>• Multilingual Caregiver Sync (Hindi, Malayalam, Tamil)  • 24/7 Offline Access  • Zero Diagnostic Risk</a:t>
            </a:r>
            <a:br/>
            <a:r>
              <a:t>• Enterprise Open-Source Stack: Flutter + React + Python FastAPI + NVIDIA Nemotron / Llama 3 + PostgreSQL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3B67"/>
                </a:solidFill>
              </a:defRPr>
            </a:pPr>
            <a:r>
              <a:t>SWASTH · MATERNAL &amp; WOMEN'S HEALTH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The Unseen Crisis: Why Long-Term Maternal Care Breaks Down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83280" cy="43891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93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 rIns="274320"/>
          <a:lstStyle/>
          <a:p>
            <a:pPr algn="ctr">
              <a:defRPr sz="1800" b="1">
                <a:solidFill>
                  <a:srgbClr val="E93B67"/>
                </a:solidFill>
              </a:defRPr>
            </a:pPr>
            <a:r>
              <a:t>The Post-Discharge Cliff</a:t>
            </a:r>
          </a:p>
          <a:p>
            <a:pPr>
              <a:spcBef>
                <a:spcPts val="1400"/>
              </a:spcBef>
              <a:defRPr sz="1300">
                <a:solidFill>
                  <a:srgbClr val="0F172A"/>
                </a:solidFill>
              </a:defRPr>
            </a:pPr>
            <a:r>
              <a:t>Maternal and infant care requires 1,000+ days across 4 ANC checks, delivery, and 7 vaccine cohorts.</a:t>
            </a:r>
            <a:br/>
            <a:br/>
            <a:r>
              <a:t>Yet, over 25-30% of mothers and infants drop out of scheduled milestones within months after hospital discharge.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828800"/>
            <a:ext cx="3383280" cy="43891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4A6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 rIns="274320"/>
          <a:lstStyle/>
          <a:p>
            <a:pPr algn="ctr">
              <a:defRPr sz="1800" b="1">
                <a:solidFill>
                  <a:srgbClr val="4A6FA5"/>
                </a:solidFill>
              </a:defRPr>
            </a:pPr>
            <a:r>
              <a:t>Administrative Overload &amp; Isolation</a:t>
            </a:r>
          </a:p>
          <a:p>
            <a:pPr>
              <a:spcBef>
                <a:spcPts val="1400"/>
              </a:spcBef>
              <a:defRPr sz="1300">
                <a:solidFill>
                  <a:srgbClr val="0F172A"/>
                </a:solidFill>
              </a:defRPr>
            </a:pPr>
            <a:r>
              <a:t>Dropouts are rarely due to medical negligence—they stem from administrative friction and emotional isolation.</a:t>
            </a:r>
            <a:br/>
            <a:br/>
            <a:r>
              <a:t>Caregivers navigate fragile paper MCP cards, unclear clinic timings, and lack peer circles in their neighborhood.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828800"/>
            <a:ext cx="3383280" cy="43891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74320" rIns="274320"/>
          <a:lstStyle/>
          <a:p>
            <a:pPr algn="ctr">
              <a:defRPr sz="1800" b="1">
                <a:solidFill>
                  <a:srgbClr val="7C3AED"/>
                </a:solidFill>
              </a:defRPr>
            </a:pPr>
            <a:r>
              <a:t>The 'Clinical App' Trap</a:t>
            </a:r>
          </a:p>
          <a:p>
            <a:pPr>
              <a:spcBef>
                <a:spcPts val="1400"/>
              </a:spcBef>
              <a:defRPr sz="1300">
                <a:solidFill>
                  <a:srgbClr val="0F172A"/>
                </a:solidFill>
              </a:defRPr>
            </a:pPr>
            <a:r>
              <a:t>Conventional health apps fail because they are cold and transactional. Patients open them only when an alert fires, leading to 80%+ abandonment in 30 days.</a:t>
            </a:r>
            <a:br/>
            <a:br/>
            <a:r>
              <a:t>Without daily cultural rituals and peer community, long-term continuity collapses.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3B67"/>
                </a:solidFill>
              </a:defRPr>
            </a:pPr>
            <a:r>
              <a:t>SWASTH · MATERNAL &amp; WOMEN'S HEALTH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The Solution: Swasth's 'Daily Hook &amp; Care Bridge'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FEF2F2"/>
          </a:solidFill>
          <a:ln w="25400">
            <a:solidFill>
              <a:srgbClr val="E93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200" b="1">
                <a:solidFill>
                  <a:srgbClr val="E93B67"/>
                </a:solidFill>
              </a:defRPr>
            </a:pPr>
            <a:r>
              <a:t>THE DAILY ENGAGEMENT HOOK</a:t>
            </a:r>
          </a:p>
          <a:p>
            <a:pPr>
              <a:spcBef>
                <a:spcPts val="400"/>
              </a:spcBef>
              <a:defRPr sz="1700" b="1">
                <a:solidFill>
                  <a:srgbClr val="0F172A"/>
                </a:solidFill>
              </a:defRPr>
            </a:pPr>
            <a:r>
              <a:t>Garbh Sanskar Rituals &amp; Hyperlocal Birth Clubs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• Daily 4Q Holistic Activities: 12 daily micro-habits across IQ, EQ (emotional), PQ (prenatal mobility), and SQ (spiritual calming).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• Hyperlocal Birth Clubs: Cohort circles based on expected delivery month and neighborhood/PHC radius for peer sharing and empathy.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• Garbh Samvaad &amp; Raga Music: Soothing maternal lullabies, positive affirmations, and partner speaking sessions.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• Guardrail Moderation: NeMo AI guards peer questions against misinformation, instantly directing clinical symptoms to doctors.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828800"/>
            <a:ext cx="5212080" cy="438912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A6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/>
          <a:lstStyle/>
          <a:p>
            <a:pPr algn="ctr">
              <a:defRPr sz="1200" b="1">
                <a:solidFill>
                  <a:srgbClr val="4A6FA5"/>
                </a:solidFill>
              </a:defRPr>
            </a:pPr>
            <a:r>
              <a:t>THE HEALTHCARE CONTINUITY BRIDGE</a:t>
            </a:r>
          </a:p>
          <a:p>
            <a:pPr>
              <a:spcBef>
                <a:spcPts val="400"/>
              </a:spcBef>
              <a:defRPr sz="1700" b="1">
                <a:solidFill>
                  <a:srgbClr val="0F172A"/>
                </a:solidFill>
              </a:defRPr>
            </a:pPr>
            <a:r>
              <a:t>Vaccination, Diet &amp; Caregiver Continuity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• Smart Vaccine Tracker: Automates 6, 10, 14-week and 9-month immunization schedules with vernacular voice reminders.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• Stage Weaning &amp; Diet Plans: Doctor-approved month-by-month infant food charts and maternal lactation nutrition.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• Family &amp; Caregiver Sync: Syncs reminders with partners, grandmothers, and local ASHA/ANMs via WhatsApp and voice.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• 24/7 Offline Sync: Functions completely without internet, syncing encrypted data when signal resumes.</a:t>
            </a:r>
          </a:p>
          <a:p>
            <a:pPr>
              <a:spcBef>
                <a:spcPts val="800"/>
              </a:spcBef>
              <a:defRPr sz="1150">
                <a:solidFill>
                  <a:srgbClr val="0F172A"/>
                </a:solidFill>
              </a:defRPr>
            </a:pPr>
            <a:r>
              <a:t>• Strict Non-Clinical Boundary: 0% diagnostic advice. Symptoms immediately route to primary health center emergency channels.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3B67"/>
                </a:solidFill>
              </a:defRPr>
            </a:pPr>
            <a:r>
              <a:t>SWASTH · MATERNAL &amp; WOMEN'S HEALTH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Full Alignment with SWASTH's 6 Core Pillars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3429000" cy="2240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93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37160" rIns="137160" bIns="91440"/>
          <a:lstStyle/>
          <a:p>
            <a:pPr algn="ctr">
              <a:defRPr sz="950" b="1">
                <a:solidFill>
                  <a:srgbClr val="E93B67"/>
                </a:solidFill>
              </a:defRPr>
            </a:pPr>
            <a:r>
              <a:t>01. CARE JOURNEY COMPANION</a:t>
            </a:r>
          </a:p>
          <a:p>
            <a:pPr>
              <a:spcBef>
                <a:spcPts val="100"/>
              </a:spcBef>
              <a:defRPr sz="1300" b="1">
                <a:solidFill>
                  <a:srgbClr val="0F172A"/>
                </a:solidFill>
              </a:defRPr>
            </a:pPr>
            <a:r>
              <a:t>Stage-Aware Guidance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Trimester checklists &amp; delivery bag planner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Weekly baby development &amp; fruit-size analogies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42-day postpartum lochia recovery tracking</a:t>
            </a:r>
          </a:p>
          <a:p>
            <a:pPr>
              <a:spcBef>
                <a:spcPts val="400"/>
              </a:spcBef>
              <a:defRPr sz="950" b="1">
                <a:solidFill>
                  <a:srgbClr val="E93B67"/>
                </a:solidFill>
              </a:defRPr>
            </a:pPr>
            <a:r>
              <a:t>📊 Target: 95% Milestone Awareness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737360"/>
            <a:ext cx="3429000" cy="2240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93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37160" rIns="137160" bIns="91440"/>
          <a:lstStyle/>
          <a:p>
            <a:pPr algn="ctr">
              <a:defRPr sz="950" b="1">
                <a:solidFill>
                  <a:srgbClr val="E93B67"/>
                </a:solidFill>
              </a:defRPr>
            </a:pPr>
            <a:r>
              <a:t>02. LONG-TERM CARE ENGAGEMENT</a:t>
            </a:r>
          </a:p>
          <a:p>
            <a:pPr>
              <a:spcBef>
                <a:spcPts val="100"/>
              </a:spcBef>
              <a:defRPr sz="1300" b="1">
                <a:solidFill>
                  <a:srgbClr val="0F172A"/>
                </a:solidFill>
              </a:defRPr>
            </a:pPr>
            <a:r>
              <a:t>Sustained Multi-Year Adherence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Daily 4Q Garbh Sanskar routines (IQ, EQ, PQ, SQ)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Milestone streak badges &amp; celebration rewards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Hyperlocal Birth Clubs for peer empathy circles</a:t>
            </a:r>
          </a:p>
          <a:p>
            <a:pPr>
              <a:spcBef>
                <a:spcPts val="400"/>
              </a:spcBef>
              <a:defRPr sz="950" b="1">
                <a:solidFill>
                  <a:srgbClr val="E93B67"/>
                </a:solidFill>
              </a:defRPr>
            </a:pPr>
            <a:r>
              <a:t>📊 Target: &gt;80% 90-Day Retention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737360"/>
            <a:ext cx="3429000" cy="2240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93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37160" rIns="137160" bIns="91440"/>
          <a:lstStyle/>
          <a:p>
            <a:pPr algn="ctr">
              <a:defRPr sz="950" b="1">
                <a:solidFill>
                  <a:srgbClr val="E93B67"/>
                </a:solidFill>
              </a:defRPr>
            </a:pPr>
            <a:r>
              <a:t>03. FAMILY &amp; CAREGIVER SUPPORT</a:t>
            </a:r>
          </a:p>
          <a:p>
            <a:pPr>
              <a:spcBef>
                <a:spcPts val="100"/>
              </a:spcBef>
              <a:defRPr sz="1300" b="1">
                <a:solidFill>
                  <a:srgbClr val="0F172A"/>
                </a:solidFill>
              </a:defRPr>
            </a:pPr>
            <a:r>
              <a:t>Caregiver Synchronization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Husband prep checklists &amp; appointment sync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Vernacular voice nudges for family elders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Shared emergency transport &amp; blood donor plans</a:t>
            </a:r>
          </a:p>
          <a:p>
            <a:pPr>
              <a:spcBef>
                <a:spcPts val="400"/>
              </a:spcBef>
              <a:defRPr sz="950" b="1">
                <a:solidFill>
                  <a:srgbClr val="E93B67"/>
                </a:solidFill>
              </a:defRPr>
            </a:pPr>
            <a:r>
              <a:t>📊 Target: 3x Caregiver Participation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114800"/>
            <a:ext cx="3429000" cy="2240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4A6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37160" rIns="137160" bIns="91440"/>
          <a:lstStyle/>
          <a:p>
            <a:pPr algn="ctr">
              <a:defRPr sz="950" b="1">
                <a:solidFill>
                  <a:srgbClr val="E93B67"/>
                </a:solidFill>
              </a:defRPr>
            </a:pPr>
            <a:r>
              <a:t>04. HEALTHCARE NAVIGATION</a:t>
            </a:r>
          </a:p>
          <a:p>
            <a:pPr>
              <a:spcBef>
                <a:spcPts val="100"/>
              </a:spcBef>
              <a:defRPr sz="1300" b="1">
                <a:solidFill>
                  <a:srgbClr val="0F172A"/>
                </a:solidFill>
              </a:defRPr>
            </a:pPr>
            <a:r>
              <a:t>Clinic &amp; Facility Guidance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Ultrasound scan window alerts &amp; fasting steps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PHC-to-District referral handoff documentation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Pre-filled check-in questions for doctor visits</a:t>
            </a:r>
          </a:p>
          <a:p>
            <a:pPr>
              <a:spcBef>
                <a:spcPts val="400"/>
              </a:spcBef>
              <a:defRPr sz="950" b="1">
                <a:solidFill>
                  <a:srgbClr val="E93B67"/>
                </a:solidFill>
              </a:defRPr>
            </a:pPr>
            <a:r>
              <a:t>📊 Target: 40% Shorter Clinic Wait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114800"/>
            <a:ext cx="3429000" cy="2240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4A6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37160" rIns="137160" bIns="91440"/>
          <a:lstStyle/>
          <a:p>
            <a:pPr algn="ctr">
              <a:defRPr sz="950" b="1">
                <a:solidFill>
                  <a:srgbClr val="E93B67"/>
                </a:solidFill>
              </a:defRPr>
            </a:pPr>
            <a:r>
              <a:t>05. FINANCIAL &amp; ADMIN SUPPORT</a:t>
            </a:r>
          </a:p>
          <a:p>
            <a:pPr>
              <a:spcBef>
                <a:spcPts val="100"/>
              </a:spcBef>
              <a:defRPr sz="1300" b="1">
                <a:solidFill>
                  <a:srgbClr val="0F172A"/>
                </a:solidFill>
              </a:defRPr>
            </a:pPr>
            <a:r>
              <a:t>Maternity Scheme Navigator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PMMVY (₹5,000 grant) document tracker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JSY &amp; JSSK cash transfer entitlement guides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Direct digital integration with ABHA ID</a:t>
            </a:r>
          </a:p>
          <a:p>
            <a:pPr>
              <a:spcBef>
                <a:spcPts val="400"/>
              </a:spcBef>
              <a:defRPr sz="950" b="1">
                <a:solidFill>
                  <a:srgbClr val="E93B67"/>
                </a:solidFill>
              </a:defRPr>
            </a:pPr>
            <a:r>
              <a:t>📊 Target: 100% Scheme Realization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114800"/>
            <a:ext cx="3429000" cy="2240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4A6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37160" rIns="137160" bIns="91440"/>
          <a:lstStyle/>
          <a:p>
            <a:pPr algn="ctr">
              <a:defRPr sz="950" b="1">
                <a:solidFill>
                  <a:srgbClr val="E93B67"/>
                </a:solidFill>
              </a:defRPr>
            </a:pPr>
            <a:r>
              <a:t>06. PATIENT JOURNEY PROGRESS</a:t>
            </a:r>
          </a:p>
          <a:p>
            <a:pPr>
              <a:spcBef>
                <a:spcPts val="100"/>
              </a:spcBef>
              <a:defRPr sz="1300" b="1">
                <a:solidFill>
                  <a:srgbClr val="0F172A"/>
                </a:solidFill>
              </a:defRPr>
            </a:pPr>
            <a:r>
              <a:t>Longitudinal Milestone View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Digital MCP card sync with cloud backup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Visual tracking of 7 infant vaccine cohorts</a:t>
            </a:r>
          </a:p>
          <a:p>
            <a:pPr>
              <a:spcBef>
                <a:spcPts val="200"/>
              </a:spcBef>
              <a:defRPr sz="1000">
                <a:solidFill>
                  <a:srgbClr val="334155"/>
                </a:solidFill>
              </a:defRPr>
            </a:pPr>
            <a:r>
              <a:t>✓ Verified doctor visit summary archive</a:t>
            </a:r>
          </a:p>
          <a:p>
            <a:pPr>
              <a:spcBef>
                <a:spcPts val="400"/>
              </a:spcBef>
              <a:defRPr sz="950" b="1">
                <a:solidFill>
                  <a:srgbClr val="E93B67"/>
                </a:solidFill>
              </a:defRPr>
            </a:pPr>
            <a:r>
              <a:t>📊 Target: Zero Lost Health Records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3B67"/>
                </a:solidFill>
              </a:defRPr>
            </a:pPr>
            <a:r>
              <a:t>SWASTH · MATERNAL &amp; WOMEN'S HEALTH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App Design Showcase: Daily Rituals, Tools &amp; Birth Clubs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wasth_app_design_pre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91640"/>
            <a:ext cx="7132320" cy="4572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46720" y="1691640"/>
            <a:ext cx="3474720" cy="457200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>
              <a:defRPr sz="1200" b="1">
                <a:solidFill>
                  <a:srgbClr val="E93B67"/>
                </a:solidFill>
              </a:defRPr>
            </a:pPr>
            <a:r>
              <a:t>CORE SCREENS SHOWCASED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t>1. Daily 4Q Schedule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t>12 daily activities across IQ, EQ, PQ, and SQ with day-by-day progress tracking.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t>2. Smart Tools &amp; Scanner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t>Quick access to MCP card scanner, water tracker, steps walk, and scheme aids.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t>3. Hyperlocal Birth Clubs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t>Connecting mothers in nearby PHC circles with AI guardrail-moderated peer sharing.</a:t>
            </a:r>
          </a:p>
          <a:p>
            <a:pPr>
              <a:spcBef>
                <a:spcPts val="1000"/>
              </a:spcBef>
              <a:defRPr sz="1300" b="1">
                <a:solidFill>
                  <a:srgbClr val="0F172A"/>
                </a:solidFill>
              </a:defRPr>
            </a:pPr>
            <a:r>
              <a:t>4. Vaccine &amp; Diet Tracker</a:t>
            </a:r>
          </a:p>
          <a:p>
            <a:pPr>
              <a:spcBef>
                <a:spcPts val="200"/>
              </a:spcBef>
              <a:defRPr sz="1100">
                <a:solidFill>
                  <a:srgbClr val="64748B"/>
                </a:solidFill>
              </a:defRPr>
            </a:pPr>
            <a:r>
              <a:t>Upcoming 6/10/14-week vaccine cohorts and doctor-approved stage weaning meals.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3B67"/>
                </a:solidFill>
              </a:defRPr>
            </a:pPr>
            <a:r>
              <a:t>SWASTH · MATERNAL &amp; WOMEN'S HEALTH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Enterprise Open-Source Architecture: Speed &amp; Reliability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2057400" cy="466344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E93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 rIns="137160" bIns="91440"/>
          <a:lstStyle/>
          <a:p>
            <a:pPr algn="ctr">
              <a:defRPr sz="950" b="1">
                <a:solidFill>
                  <a:srgbClr val="E93B67"/>
                </a:solidFill>
              </a:defRPr>
            </a:pPr>
            <a:r>
              <a:t>CLIENT LAYER</a:t>
            </a:r>
          </a:p>
          <a:p>
            <a:pPr>
              <a:spcBef>
                <a:spcPts val="100"/>
              </a:spcBef>
              <a:defRPr sz="1400" b="1">
                <a:solidFill>
                  <a:srgbClr val="0F172A"/>
                </a:solidFill>
              </a:defRPr>
            </a:pPr>
            <a:r>
              <a:t>Flutter &amp; Web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Flutter 3.x native (60–120 FPS)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Hive local DB for 24/7 offline cache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Lightweight React clinic backup portal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&lt;18 MB APK size for rural devices</a:t>
            </a:r>
          </a:p>
          <a:p>
            <a:pPr>
              <a:spcBef>
                <a:spcPts val="1400"/>
              </a:spcBef>
              <a:defRPr sz="950" b="1">
                <a:solidFill>
                  <a:srgbClr val="E93B67"/>
                </a:solidFill>
              </a:defRPr>
            </a:pPr>
            <a:r>
              <a:t>⚡ &lt;50ms UI Latency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737360"/>
            <a:ext cx="2057400" cy="466344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4A6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 rIns="137160" bIns="91440"/>
          <a:lstStyle/>
          <a:p>
            <a:pPr algn="ctr">
              <a:defRPr sz="950" b="1">
                <a:solidFill>
                  <a:srgbClr val="4A6FA5"/>
                </a:solidFill>
              </a:defRPr>
            </a:pPr>
            <a:r>
              <a:t>UNIFIED BACKEND</a:t>
            </a:r>
          </a:p>
          <a:p>
            <a:pPr>
              <a:spcBef>
                <a:spcPts val="100"/>
              </a:spcBef>
              <a:defRPr sz="1400" b="1">
                <a:solidFill>
                  <a:srgbClr val="0F172A"/>
                </a:solidFill>
              </a:defRPr>
            </a:pPr>
            <a:r>
              <a:t>Python FastAPI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Async Starlette pipeline (high scale)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WebSockets for live community sync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ABHA Gateway tokenized login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Background Celery immunization crons</a:t>
            </a:r>
          </a:p>
          <a:p>
            <a:pPr>
              <a:spcBef>
                <a:spcPts val="1400"/>
              </a:spcBef>
              <a:defRPr sz="950" b="1">
                <a:solidFill>
                  <a:srgbClr val="4A6FA5"/>
                </a:solidFill>
              </a:defRPr>
            </a:pPr>
            <a:r>
              <a:t>⚡ 10k+ req/sec Throughput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1737360"/>
            <a:ext cx="2057400" cy="466344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 rIns="137160" bIns="91440"/>
          <a:lstStyle/>
          <a:p>
            <a:pPr algn="ctr">
              <a:defRPr sz="950" b="1">
                <a:solidFill>
                  <a:srgbClr val="7C3AED"/>
                </a:solidFill>
              </a:defRPr>
            </a:pPr>
            <a:r>
              <a:t>AGENT ENGINE</a:t>
            </a:r>
          </a:p>
          <a:p>
            <a:pPr>
              <a:spcBef>
                <a:spcPts val="100"/>
              </a:spcBef>
              <a:defRPr sz="1400" b="1">
                <a:solidFill>
                  <a:srgbClr val="0F172A"/>
                </a:solidFill>
              </a:defRPr>
            </a:pPr>
            <a:r>
              <a:t>vLLM + LangGraph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Nemotron &amp; Llama 3 on private cloud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PagedAttention memory optimization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LangGraph strict non-clinical paths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Zero GPU lock-in (standard Linux)</a:t>
            </a:r>
          </a:p>
          <a:p>
            <a:pPr>
              <a:spcBef>
                <a:spcPts val="1400"/>
              </a:spcBef>
              <a:defRPr sz="950" b="1">
                <a:solidFill>
                  <a:srgbClr val="7C3AED"/>
                </a:solidFill>
              </a:defRPr>
            </a:pPr>
            <a:r>
              <a:t>⚡ &lt;90ms First-Token 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9" y="1737360"/>
            <a:ext cx="2057400" cy="466344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 rIns="137160" bIns="91440"/>
          <a:lstStyle/>
          <a:p>
            <a:pPr algn="ctr">
              <a:defRPr sz="950" b="1">
                <a:solidFill>
                  <a:srgbClr val="0D9488"/>
                </a:solidFill>
              </a:defRPr>
            </a:pPr>
            <a:r>
              <a:t>SPEECH &amp; NLP</a:t>
            </a:r>
          </a:p>
          <a:p>
            <a:pPr>
              <a:spcBef>
                <a:spcPts val="100"/>
              </a:spcBef>
              <a:defRPr sz="1400" b="1">
                <a:solidFill>
                  <a:srgbClr val="0F172A"/>
                </a:solidFill>
              </a:defRPr>
            </a:pPr>
            <a:r>
              <a:t>Indic NLP AI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Whisper STT fine-tuned on Indic accents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AI4Bharat IndicTrans2 (10+ languages)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Bhashini vernacular TTS voice notes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15-sec localized WhatsApp audio nudges</a:t>
            </a:r>
          </a:p>
          <a:p>
            <a:pPr>
              <a:spcBef>
                <a:spcPts val="1400"/>
              </a:spcBef>
              <a:defRPr sz="950" b="1">
                <a:solidFill>
                  <a:srgbClr val="0D9488"/>
                </a:solidFill>
              </a:defRPr>
            </a:pPr>
            <a:r>
              <a:t>⚡ 10+ Indic Languages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1737360"/>
            <a:ext cx="2057400" cy="466344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37160" lIns="137160" rIns="137160" bIns="91440"/>
          <a:lstStyle/>
          <a:p>
            <a:pPr algn="ctr">
              <a:defRPr sz="950" b="1">
                <a:solidFill>
                  <a:srgbClr val="D97706"/>
                </a:solidFill>
              </a:defRPr>
            </a:pPr>
            <a:r>
              <a:t>DATA &amp; AUDIT</a:t>
            </a:r>
          </a:p>
          <a:p>
            <a:pPr>
              <a:spcBef>
                <a:spcPts val="100"/>
              </a:spcBef>
              <a:defRPr sz="1400" b="1">
                <a:solidFill>
                  <a:srgbClr val="0F172A"/>
                </a:solidFill>
              </a:defRPr>
            </a:pPr>
            <a:r>
              <a:t>PostgreSQL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Row-Level Security (RLS) tenant lock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Immutable append-only audit ledger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pgvector semantic guidance search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</a:defRPr>
            </a:pPr>
            <a:r>
              <a:t>• DPDP Act 2023 &amp; HIPAA compliance</a:t>
            </a:r>
          </a:p>
          <a:p>
            <a:pPr>
              <a:spcBef>
                <a:spcPts val="1400"/>
              </a:spcBef>
              <a:defRPr sz="950" b="1">
                <a:solidFill>
                  <a:srgbClr val="D97706"/>
                </a:solidFill>
              </a:defRPr>
            </a:pPr>
            <a:r>
              <a:t>⚡ 100% Cryptographic Log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3B67"/>
                </a:solidFill>
              </a:defRPr>
            </a:pPr>
            <a:r>
              <a:t>SWASTH · MATERNAL &amp; WOMEN'S HEALTH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Clinical Safety: Zero Diagnostic Risk &amp; Guardrail Moderation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83280" cy="43891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93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28600" rIns="228600"/>
          <a:lstStyle/>
          <a:p>
            <a:pPr algn="ctr">
              <a:defRPr sz="1600" b="1">
                <a:solidFill>
                  <a:srgbClr val="E93B67"/>
                </a:solidFill>
              </a:defRPr>
            </a:pPr>
            <a:r>
              <a:t>Strict Non-Clinical Boundary</a:t>
            </a:r>
          </a:p>
          <a:p>
            <a:pPr>
              <a:spcBef>
                <a:spcPts val="1200"/>
              </a:spcBef>
              <a:defRPr sz="1150">
                <a:solidFill>
                  <a:srgbClr val="0F172A"/>
                </a:solidFill>
              </a:defRPr>
            </a:pPr>
            <a:r>
              <a:t>• 0% Diagnostic Advice: Never provides medical risk scores, diagnostic labels, or lab test interpretations.</a:t>
            </a:r>
            <a:br/>
            <a:r>
              <a:t>• 0% Treatment Prescriptions: Never suggests medications, dosage changes, or clinical therapies.</a:t>
            </a:r>
            <a:br/>
            <a:r>
              <a:t>• Non-Clinical Scope: Limited strictly to administrative scheduling, nutrition reminders, non-strenuous lifestyle, and welfare schemes.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828800"/>
            <a:ext cx="3383280" cy="43891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4A6F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28600" rIns="228600"/>
          <a:lstStyle/>
          <a:p>
            <a:pPr algn="ctr">
              <a:defRPr sz="1600" b="1">
                <a:solidFill>
                  <a:srgbClr val="4A6FA5"/>
                </a:solidFill>
              </a:defRPr>
            </a:pPr>
            <a:r>
              <a:t>NVIDIA NeMo Guardrails</a:t>
            </a:r>
          </a:p>
          <a:p>
            <a:pPr>
              <a:spcBef>
                <a:spcPts val="1200"/>
              </a:spcBef>
              <a:defRPr sz="1150">
                <a:solidFill>
                  <a:srgbClr val="0F172A"/>
                </a:solidFill>
              </a:defRPr>
            </a:pPr>
            <a:r>
              <a:t>• Real-time semantic guardrails run directly in memory on every user prompt and response.</a:t>
            </a:r>
            <a:br/>
            <a:r>
              <a:t>• Symptom Interception: If a mother mentions clinical symptoms (e.g. bleeding, severe pain, high fever), NeMo immediately halts automation.</a:t>
            </a:r>
            <a:br/>
            <a:r>
              <a:t>• Safe Direct Protocol: Instantly delivers emergency clinic helpline numbers and maps nearest PHC.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828800"/>
            <a:ext cx="3383280" cy="43891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0" lIns="228600" rIns="228600"/>
          <a:lstStyle/>
          <a:p>
            <a:pPr algn="ctr">
              <a:defRPr sz="1600" b="1">
                <a:solidFill>
                  <a:srgbClr val="16A34A"/>
                </a:solidFill>
              </a:defRPr>
            </a:pPr>
            <a:r>
              <a:t>Human-in-the-Loop &amp; Auditability</a:t>
            </a:r>
          </a:p>
          <a:p>
            <a:pPr>
              <a:spcBef>
                <a:spcPts val="1200"/>
              </a:spcBef>
              <a:defRPr sz="1150">
                <a:solidFill>
                  <a:srgbClr val="0F172A"/>
                </a:solidFill>
              </a:defRPr>
            </a:pPr>
            <a:r>
              <a:t>• Clinician &amp; ANM Oversight: Frontline staff review milestone rosters and due-lists with 1-click approvals.</a:t>
            </a:r>
            <a:br/>
            <a:r>
              <a:t>• Append-Only Audit Trail: Every AI-generated recommendation, user interaction, and clinic override is permanently logged in PostgreSQL.</a:t>
            </a:r>
            <a:br/>
            <a:r>
              <a:t>• Full Patient &amp; Family Consent: Caregiver synchronization requires explicit verification.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93B67"/>
                </a:solidFill>
              </a:defRPr>
            </a:pPr>
            <a:r>
              <a:t>SWASTH · MATERNAL &amp; WOMEN'S HEALTH</a:t>
            </a:r>
          </a:p>
          <a:p>
            <a:pPr>
              <a:defRPr sz="2400" b="1">
                <a:solidFill>
                  <a:srgbClr val="0F172A"/>
                </a:solidFill>
              </a:defRPr>
            </a:pPr>
            <a:r>
              <a:t>Measurable Operational Outcomes within 60–90 Days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50876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2560320" cy="20116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93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37160" rIns="137160"/>
          <a:lstStyle/>
          <a:p>
            <a:pPr algn="ctr">
              <a:defRPr sz="2200" b="1">
                <a:solidFill>
                  <a:srgbClr val="E93B67"/>
                </a:solidFill>
              </a:defRPr>
            </a:pPr>
            <a:r>
              <a:t>85% Drop</a:t>
            </a:r>
          </a:p>
          <a:p>
            <a:pPr>
              <a:spcBef>
                <a:spcPts val="400"/>
              </a:spcBef>
              <a:defRPr sz="1200" b="1">
                <a:solidFill>
                  <a:srgbClr val="0F172A"/>
                </a:solidFill>
              </a:defRPr>
            </a:pPr>
            <a:r>
              <a:t>Frontline Admin Burden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Reduces ASHA/ANM time spent tallying paper due-lists from 10 hrs to &lt;1.5 hrs/week.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1828800"/>
            <a:ext cx="2560320" cy="20116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93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37160" rIns="137160"/>
          <a:lstStyle/>
          <a:p>
            <a:pPr algn="ctr">
              <a:defRPr sz="2200" b="1">
                <a:solidFill>
                  <a:srgbClr val="E93B67"/>
                </a:solidFill>
              </a:defRPr>
            </a:pPr>
            <a:r>
              <a:t>90%+ Retention</a:t>
            </a:r>
          </a:p>
          <a:p>
            <a:pPr>
              <a:spcBef>
                <a:spcPts val="400"/>
              </a:spcBef>
              <a:defRPr sz="1200" b="1">
                <a:solidFill>
                  <a:srgbClr val="0F172A"/>
                </a:solidFill>
              </a:defRPr>
            </a:pPr>
            <a:r>
              <a:t>Immunization Milestones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Reduces 6 to 14-week infant vaccine dropouts through localized caregiver voice alerts.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2560320" cy="20116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93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37160" rIns="137160"/>
          <a:lstStyle/>
          <a:p>
            <a:pPr algn="ctr">
              <a:defRPr sz="2200" b="1">
                <a:solidFill>
                  <a:srgbClr val="E93B67"/>
                </a:solidFill>
              </a:defRPr>
            </a:pPr>
            <a:r>
              <a:t>4x Higher</a:t>
            </a:r>
          </a:p>
          <a:p>
            <a:pPr>
              <a:spcBef>
                <a:spcPts val="400"/>
              </a:spcBef>
              <a:defRPr sz="1200" b="1">
                <a:solidFill>
                  <a:srgbClr val="0F172A"/>
                </a:solidFill>
              </a:defRPr>
            </a:pPr>
            <a:r>
              <a:t>Caregiver &amp; Peer Activity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Birth Clubs &amp; WhatsApp synchronization drive proactive family and community involvement.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0" y="1828800"/>
            <a:ext cx="2560320" cy="20116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93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137160" rIns="137160"/>
          <a:lstStyle/>
          <a:p>
            <a:pPr algn="ctr">
              <a:defRPr sz="2200" b="1">
                <a:solidFill>
                  <a:srgbClr val="E93B67"/>
                </a:solidFill>
              </a:defRPr>
            </a:pPr>
            <a:r>
              <a:t>100% Safe</a:t>
            </a:r>
          </a:p>
          <a:p>
            <a:pPr>
              <a:spcBef>
                <a:spcPts val="400"/>
              </a:spcBef>
              <a:defRPr sz="1200" b="1">
                <a:solidFill>
                  <a:srgbClr val="0F172A"/>
                </a:solidFill>
              </a:defRPr>
            </a:pPr>
            <a:r>
              <a:t>Regulatory Compliance</a:t>
            </a:r>
          </a:p>
          <a:p>
            <a:pPr>
              <a:spcBef>
                <a:spcPts val="400"/>
              </a:spcBef>
              <a:defRPr sz="1000">
                <a:solidFill>
                  <a:srgbClr val="64748B"/>
                </a:solidFill>
              </a:defRPr>
            </a:pPr>
            <a:r>
              <a:t>Full audit logging and zero unreviewed clinical recommendations.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10728655" cy="21031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" lIns="274320" rIns="274320"/>
          <a:lstStyle/>
          <a:p>
            <a:pPr algn="ctr">
              <a:defRPr sz="1300" b="1">
                <a:solidFill>
                  <a:srgbClr val="16A34A"/>
                </a:solidFill>
              </a:defRPr>
            </a:pPr>
            <a:r>
              <a:t>EXECUTION &amp; ROLLOUT ROADMAP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➔ Day 1–30 (Prototype &amp; Guardrail Audit): Deploy Flutter mobile client + Python backend; benchmark open-source Nemotron on vLLM; validate NeMo non-clinical guardrails.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➔ Day 31–60 (Pilot with 5 PHCs &amp; Birth Clubs): Onboard 500 expectant mothers &amp; caregivers; launch 5 localized Birth Clubs; track daily Garbh Sanskar engagement and vaccine adherence.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➔ Day 61–90 (Longitudinal Scaling &amp; Portal Integration): Synchronize with state HMIS/RCH registers; export verified administrative audit reports; expand vernacular voice models into 10+ dialects.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