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E93B67"/>
                </a:solidFill>
              </a:defRPr>
            </a:pPr>
            <a:r>
              <a:t>SWASTH (मातृ-स्वास्थ्य)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AI-Powered Multilingual Long-Term Care Companion, Birth Clubs &amp; Continuity Platform</a:t>
            </a:r>
          </a:p>
          <a:p>
            <a:pPr>
              <a:spcBef>
                <a:spcPts val="1800"/>
              </a:spcBef>
              <a:defRPr sz="1300">
                <a:solidFill>
                  <a:srgbClr val="94A3B8"/>
                </a:solidFill>
              </a:defRPr>
            </a:pPr>
            <a:r>
              <a:t>Maternal &amp; Women's Health Track  |  Primary User: Patient &amp; Caregiver  |  Use Case: Long-Term Care Engagement</a:t>
            </a:r>
          </a:p>
          <a:p>
            <a:pPr>
              <a:spcBef>
                <a:spcPts val="2400"/>
              </a:spcBef>
              <a:defRPr sz="1200">
                <a:solidFill>
                  <a:srgbClr val="CBD5E1"/>
                </a:solidFill>
              </a:defRPr>
            </a:pPr>
            <a:r>
              <a:t>• Daily Garbh Sanskar Micro-Activities  • Hyperlocal Birth Clubs &amp; Peer Support Circles</a:t>
            </a:r>
            <a:br/>
            <a:r>
              <a:t>• Multilingual Caregiver Sync (Hindi, Malayalam, Tamil)  • 24/7 Offline Access  • Zero Diagnostic Risk</a:t>
            </a:r>
            <a:br/>
            <a:r>
              <a:t>• Enterprise Open-Source Stack: Flutter + React + Python FastAPI + NVIDIA Nemotron / Llama 3 + PostgreSQL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The Unseen Crisis: Why Long-Term Maternal Care Breaks 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800" b="1">
                <a:solidFill>
                  <a:srgbClr val="E93B67"/>
                </a:solidFill>
              </a:defRPr>
            </a:pPr>
            <a:r>
              <a:t>The Post-Discharge Cliff</a:t>
            </a:r>
          </a:p>
          <a:p>
            <a:pPr>
              <a:spcBef>
                <a:spcPts val="1400"/>
              </a:spcBef>
              <a:defRPr sz="1300">
                <a:solidFill>
                  <a:srgbClr val="0F172A"/>
                </a:solidFill>
              </a:defRPr>
            </a:pPr>
            <a:r>
              <a:t>Maternal and infant care requires 1,000+ days across 4 ANC checks, delivery, and 7 vaccine cohorts.</a:t>
            </a:r>
            <a:br/>
            <a:br/>
            <a:r>
              <a:t>Yet, over 25-30% of mothers and infants drop out of scheduled milestones within months after hospital discharge.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800" b="1">
                <a:solidFill>
                  <a:srgbClr val="4A6FA5"/>
                </a:solidFill>
              </a:defRPr>
            </a:pPr>
            <a:r>
              <a:t>Administrative Overload &amp; Isolation</a:t>
            </a:r>
          </a:p>
          <a:p>
            <a:pPr>
              <a:spcBef>
                <a:spcPts val="1400"/>
              </a:spcBef>
              <a:defRPr sz="1300">
                <a:solidFill>
                  <a:srgbClr val="0F172A"/>
                </a:solidFill>
              </a:defRPr>
            </a:pPr>
            <a:r>
              <a:t>Dropouts are rarely due to medical negligence—they stem from administrative friction and emotional isolation.</a:t>
            </a:r>
            <a:br/>
            <a:br/>
            <a:r>
              <a:t>Caregivers navigate fragile paper MCP cards, unclear clinic timings, and lack peer circles in their neighborhood.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800" b="1">
                <a:solidFill>
                  <a:srgbClr val="7C3AED"/>
                </a:solidFill>
              </a:defRPr>
            </a:pPr>
            <a:r>
              <a:t>The 'Clinical App' Trap</a:t>
            </a:r>
          </a:p>
          <a:p>
            <a:pPr>
              <a:spcBef>
                <a:spcPts val="1400"/>
              </a:spcBef>
              <a:defRPr sz="1300">
                <a:solidFill>
                  <a:srgbClr val="0F172A"/>
                </a:solidFill>
              </a:defRPr>
            </a:pPr>
            <a:r>
              <a:t>Conventional health apps fail because they are cold and transactional. Patients open them only when an alert fires, leading to 80%+ abandonment in 30 days.</a:t>
            </a:r>
            <a:br/>
            <a:br/>
            <a:r>
              <a:t>Without daily cultural rituals and peer community, long-term continuity collapses.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The Solution: Swasth's 'Daily Hook &amp; Care Bridge'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200" b="1">
                <a:solidFill>
                  <a:srgbClr val="E93B67"/>
                </a:solidFill>
              </a:defRPr>
            </a:pPr>
            <a:r>
              <a:t>THE DAILY ENGAGEMENT HOOK</a:t>
            </a:r>
          </a:p>
          <a:p>
            <a:pPr>
              <a:spcBef>
                <a:spcPts val="400"/>
              </a:spcBef>
              <a:defRPr sz="1700" b="1">
                <a:solidFill>
                  <a:srgbClr val="0F172A"/>
                </a:solidFill>
              </a:defRPr>
            </a:pPr>
            <a:r>
              <a:t>Garbh Sanskar Rituals &amp; Hyperlocal Birth Clubs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Daily 4Q Holistic Activities: 12 daily micro-habits across IQ, EQ (emotional), PQ (prenatal mobility), and SQ (spiritual calming).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Hyperlocal Birth Clubs: Cohort circles based on expected delivery month and neighborhood/PHC radius for peer sharing and empathy.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Garbh Samvaad &amp; Raga Music: Soothing maternal lullabies, positive affirmations, and partner speaking sessions.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Guardrail Moderation: NeMo AI guards peer questions against misinformation, instantly directing clinical symptoms to doctors.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200" b="1">
                <a:solidFill>
                  <a:srgbClr val="4A6FA5"/>
                </a:solidFill>
              </a:defRPr>
            </a:pPr>
            <a:r>
              <a:t>THE HEALTHCARE CONTINUITY BRIDGE</a:t>
            </a:r>
          </a:p>
          <a:p>
            <a:pPr>
              <a:spcBef>
                <a:spcPts val="400"/>
              </a:spcBef>
              <a:defRPr sz="1700" b="1">
                <a:solidFill>
                  <a:srgbClr val="0F172A"/>
                </a:solidFill>
              </a:defRPr>
            </a:pPr>
            <a:r>
              <a:t>Vaccination, Diet &amp; Caregiver Continuity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Smart Vaccine Tracker: Automates 6, 10, 14-week and 9-month immunization schedules with vernacular voice reminders.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Stage Weaning &amp; Diet Plans: Doctor-approved month-by-month infant food charts and maternal lactation nutrition.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Family &amp; Caregiver Sync: Syncs reminders with partners, grandmothers, and local ASHA/ANMs via WhatsApp and voice.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24/7 Offline Sync: Functions completely without internet, syncing encrypted data when signal resumes.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Strict Non-Clinical Boundary: 0% diagnostic advice. Symptoms immediately route to primary health center emergency channels.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Full Alignment with SWASTH's 6 Core Pillars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01. CARE JOURNEY COMPANION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Stage-Aware Guidance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Trimester checklists &amp; delivery bag planner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Weekly baby development &amp; fruit-size analogies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42-day postpartum lochia recovery tracking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95% Milestone Awareness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73736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02. LONG-TERM CARE ENGAGEMENT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Sustained Multi-Year Adherence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Daily 4Q Garbh Sanskar routines (IQ, EQ, PQ, SQ)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Milestone streak badges &amp; celebration rewards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Hyperlocal Birth Clubs for peer empathy circles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&gt;80% 90-Day Retention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73736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03. FAMILY &amp; CAREGIVER SUPPORT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Caregiver Synchronization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Husband prep checklists &amp; appointment sync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Vernacular voice nudges for family elders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Shared emergency transport &amp; blood donor plans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3x Caregiver Participation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04. HEALTHCARE NAVIGATION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Clinic &amp; Facility Guidance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Ultrasound scan window alerts &amp; fasting steps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PHC-to-District referral handoff documentation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Pre-filled check-in questions for doctor visits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40% Shorter Clinic Wait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1480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05. FINANCIAL &amp; ADMIN SUPPORT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Maternity Scheme Navigator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PMMVY (₹5,000 grant) document tracker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JSY &amp; JSSK cash transfer entitlement guides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Direct digital integration with ABHA ID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100% Scheme Realization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11480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06. PATIENT JOURNEY PROGRESS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Longitudinal Milestone View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Digital MCP card sync with cloud backup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Visual tracking of 7 infant vaccine cohorts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Verified doctor visit summary archive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Zero Lost Health Records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App Design Showcase: Daily Rituals, Tools &amp; Birth Clubs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wasth_app_desig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713232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691640"/>
            <a:ext cx="3474720" cy="457200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>
              <a:defRPr sz="1200" b="1">
                <a:solidFill>
                  <a:srgbClr val="E93B67"/>
                </a:solidFill>
              </a:defRPr>
            </a:pPr>
            <a:r>
              <a:t>CORE SCREENS SHOWCASED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1. Daily 4Q Schedule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12 daily activities across IQ, EQ, PQ, and SQ with day-by-day progress tracking.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2. Smart Tools &amp; Scanner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Quick access to MCP card scanner, water tracker, steps walk, and scheme aids.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3. Hyperlocal Birth Clubs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Connecting mothers in nearby PHC circles with AI guardrail-moderated peer sharing.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4. Vaccine &amp; Diet Tracker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Upcoming 6/10/14-week vaccine cohorts and doctor-approved stage weaning meals.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Enterprise Open-Source Architecture: Speed &amp;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CLIENT LAYER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Flutter &amp; Web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Flutter 3.x native (60–120 FPS)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Hive local DB for 24/7 offline cache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Lightweight React clinic backup portal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&lt;18 MB APK size for rural devices</a:t>
            </a:r>
          </a:p>
          <a:p>
            <a:pPr>
              <a:spcBef>
                <a:spcPts val="1400"/>
              </a:spcBef>
              <a:defRPr sz="950" b="1">
                <a:solidFill>
                  <a:srgbClr val="E93B67"/>
                </a:solidFill>
              </a:defRPr>
            </a:pPr>
            <a:r>
              <a:t>⚡ &lt;50ms UI Latency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4A6FA5"/>
                </a:solidFill>
              </a:defRPr>
            </a:pPr>
            <a:r>
              <a:t>UNIFIED BACKEND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Python FastAPI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Async Starlette pipeline (high scale)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WebSockets for live community sync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ABHA Gateway tokenized login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Background Celery immunization crons</a:t>
            </a:r>
          </a:p>
          <a:p>
            <a:pPr>
              <a:spcBef>
                <a:spcPts val="1400"/>
              </a:spcBef>
              <a:defRPr sz="950" b="1">
                <a:solidFill>
                  <a:srgbClr val="4A6FA5"/>
                </a:solidFill>
              </a:defRPr>
            </a:pPr>
            <a:r>
              <a:t>⚡ 10k+ req/sec Throughput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7C3AED"/>
                </a:solidFill>
              </a:defRPr>
            </a:pPr>
            <a:r>
              <a:t>AGENT ENGINE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vLLM + LangGraph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Nemotron &amp; Llama 3 on private cloud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PagedAttention memory optimization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LangGraph strict non-clinical paths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Zero GPU lock-in (standard Linux)</a:t>
            </a:r>
          </a:p>
          <a:p>
            <a:pPr>
              <a:spcBef>
                <a:spcPts val="1400"/>
              </a:spcBef>
              <a:defRPr sz="950" b="1">
                <a:solidFill>
                  <a:srgbClr val="7C3AED"/>
                </a:solidFill>
              </a:defRPr>
            </a:pPr>
            <a:r>
              <a:t>⚡ &lt;90ms First-Token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9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0D9488"/>
                </a:solidFill>
              </a:defRPr>
            </a:pPr>
            <a:r>
              <a:t>SPEECH &amp; NLP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Indic NLP AI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Whisper STT fine-tuned on Indic accents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AI4Bharat IndicTrans2 (10+ languages)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Bhashini vernacular TTS voice notes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15-sec localized WhatsApp audio nudges</a:t>
            </a:r>
          </a:p>
          <a:p>
            <a:pPr>
              <a:spcBef>
                <a:spcPts val="1400"/>
              </a:spcBef>
              <a:defRPr sz="950" b="1">
                <a:solidFill>
                  <a:srgbClr val="0D9488"/>
                </a:solidFill>
              </a:defRPr>
            </a:pPr>
            <a:r>
              <a:t>⚡ 10+ Indic Languages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D97706"/>
                </a:solidFill>
              </a:defRPr>
            </a:pPr>
            <a:r>
              <a:t>DATA &amp; AUDIT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PostgreSQL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Row-Level Security (RLS) tenant lock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Immutable append-only audit ledger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pgvector semantic guidance search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DPDP Act 2023 &amp; HIPAA compliance</a:t>
            </a:r>
          </a:p>
          <a:p>
            <a:pPr>
              <a:spcBef>
                <a:spcPts val="1400"/>
              </a:spcBef>
              <a:defRPr sz="950" b="1">
                <a:solidFill>
                  <a:srgbClr val="D97706"/>
                </a:solidFill>
              </a:defRPr>
            </a:pPr>
            <a:r>
              <a:t>⚡ 100% Cryptographic Log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Clinical Safety: Zero Diagnostic Risk &amp; Guardrail Moderation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28600" rIns="228600"/>
          <a:lstStyle/>
          <a:p>
            <a:pPr algn="ctr">
              <a:defRPr sz="1600" b="1">
                <a:solidFill>
                  <a:srgbClr val="E93B67"/>
                </a:solidFill>
              </a:defRPr>
            </a:pPr>
            <a:r>
              <a:t>Strict Non-Clinical Boundary</a:t>
            </a:r>
          </a:p>
          <a:p>
            <a:pPr>
              <a:spcBef>
                <a:spcPts val="1200"/>
              </a:spcBef>
              <a:defRPr sz="1150">
                <a:solidFill>
                  <a:srgbClr val="0F172A"/>
                </a:solidFill>
              </a:defRPr>
            </a:pPr>
            <a:r>
              <a:t>• 0% Diagnostic Advice: Never provides medical risk scores, diagnostic labels, or lab test interpretations.</a:t>
            </a:r>
            <a:br/>
            <a:r>
              <a:t>• 0% Treatment Prescriptions: Never suggests medications, dosage changes, or clinical therapies.</a:t>
            </a:r>
            <a:br/>
            <a:r>
              <a:t>• Non-Clinical Scope: Limited strictly to administrative scheduling, nutrition reminders, non-strenuous lifestyle, and welfare schemes.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28600" rIns="228600"/>
          <a:lstStyle/>
          <a:p>
            <a:pPr algn="ctr">
              <a:defRPr sz="1600" b="1">
                <a:solidFill>
                  <a:srgbClr val="4A6FA5"/>
                </a:solidFill>
              </a:defRPr>
            </a:pPr>
            <a:r>
              <a:t>NVIDIA NeMo Guardrails</a:t>
            </a:r>
          </a:p>
          <a:p>
            <a:pPr>
              <a:spcBef>
                <a:spcPts val="1200"/>
              </a:spcBef>
              <a:defRPr sz="1150">
                <a:solidFill>
                  <a:srgbClr val="0F172A"/>
                </a:solidFill>
              </a:defRPr>
            </a:pPr>
            <a:r>
              <a:t>• Real-time semantic guardrails run directly in memory on every user prompt and response.</a:t>
            </a:r>
            <a:br/>
            <a:r>
              <a:t>• Symptom Interception: If a mother mentions clinical symptoms (e.g. bleeding, severe pain, high fever), NeMo immediately halts automation.</a:t>
            </a:r>
            <a:br/>
            <a:r>
              <a:t>• Safe Direct Protocol: Instantly delivers emergency clinic helpline numbers and maps nearest PHC.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28600" rIns="228600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Human-in-the-Loop &amp; Auditability</a:t>
            </a:r>
          </a:p>
          <a:p>
            <a:pPr>
              <a:spcBef>
                <a:spcPts val="1200"/>
              </a:spcBef>
              <a:defRPr sz="1150">
                <a:solidFill>
                  <a:srgbClr val="0F172A"/>
                </a:solidFill>
              </a:defRPr>
            </a:pPr>
            <a:r>
              <a:t>• Clinician &amp; ANM Oversight: Frontline staff review milestone rosters and due-lists with 1-click approvals.</a:t>
            </a:r>
            <a:br/>
            <a:r>
              <a:t>• Append-Only Audit Trail: Every AI-generated recommendation, user interaction, and clinic override is permanently logged in PostgreSQL.</a:t>
            </a:r>
            <a:br/>
            <a:r>
              <a:t>• Full Patient &amp; Family Consent: Caregiver synchronization requires explicit verification.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Measurable Operational Outcomes within 60–90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60320" cy="2011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37160" rIns="137160"/>
          <a:lstStyle/>
          <a:p>
            <a:pPr algn="ctr">
              <a:defRPr sz="2200" b="1">
                <a:solidFill>
                  <a:srgbClr val="E93B67"/>
                </a:solidFill>
              </a:defRPr>
            </a:pPr>
            <a:r>
              <a:t>85% Drop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Frontline Admin Burden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Reduces ASHA/ANM time spent tallying paper due-lists from 10 hrs to &lt;1.5 hrs/week.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560320" cy="2011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37160" rIns="137160"/>
          <a:lstStyle/>
          <a:p>
            <a:pPr algn="ctr">
              <a:defRPr sz="2200" b="1">
                <a:solidFill>
                  <a:srgbClr val="E93B67"/>
                </a:solidFill>
              </a:defRPr>
            </a:pPr>
            <a:r>
              <a:t>90%+ Retention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Immunization Milestones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Reduces 6 to 14-week infant vaccine dropouts through localized caregiver voice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2560320" cy="2011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37160" rIns="137160"/>
          <a:lstStyle/>
          <a:p>
            <a:pPr algn="ctr">
              <a:defRPr sz="2200" b="1">
                <a:solidFill>
                  <a:srgbClr val="E93B67"/>
                </a:solidFill>
              </a:defRPr>
            </a:pPr>
            <a:r>
              <a:t>4x Higher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Caregiver &amp; Peer Activity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Birth Clubs &amp; WhatsApp synchronization drive proactive family and community involvement.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828800"/>
            <a:ext cx="2560320" cy="2011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37160" rIns="137160"/>
          <a:lstStyle/>
          <a:p>
            <a:pPr algn="ctr">
              <a:defRPr sz="2200" b="1">
                <a:solidFill>
                  <a:srgbClr val="E93B67"/>
                </a:solidFill>
              </a:defRPr>
            </a:pPr>
            <a:r>
              <a:t>100% Safe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Regulatory Compliance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Full audit logging and zero unreviewed clinical recommendations.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10728655" cy="21031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74320" rIns="274320"/>
          <a:lstStyle/>
          <a:p>
            <a:pPr algn="ctr">
              <a:defRPr sz="1300" b="1">
                <a:solidFill>
                  <a:srgbClr val="16A34A"/>
                </a:solidFill>
              </a:defRPr>
            </a:pPr>
            <a:r>
              <a:t>EXECUTION &amp; ROLLOUT ROADMAP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➔ Day 1–30 (Prototype &amp; Guardrail Audit): Deploy Flutter mobile client + Python backend; benchmark open-source Nemotron on vLLM; validate NeMo non-clinical guardrails.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➔ Day 31–60 (Pilot with 5 PHCs &amp; Birth Clubs): Onboard 500 expectant mothers &amp; caregivers; launch 5 localized Birth Clubs; track daily Garbh Sanskar engagement and vaccine adherence.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➔ Day 61–90 (Longitudinal Scaling &amp; Portal Integration): Synchronize with state HMIS/RCH registers; export verified administrative audit reports; expand vernacular voice models into 10+ dialects.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