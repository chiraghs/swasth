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E93B67"/>
                </a:solidFill>
              </a:defRPr>
            </a:pPr>
            <a:r>
              <a:t>SWASTH (Maternal Health)</a:t>
            </a:r>
          </a:p>
          <a:p>
            <a:pPr>
              <a:spcBef>
                <a:spcPts val="800"/>
              </a:spcBef>
              <a:defRPr sz="2000" b="1">
                <a:solidFill>
                  <a:srgbClr val="FFFFFF"/>
                </a:solidFill>
              </a:defRPr>
            </a:pPr>
            <a:r>
              <a:t>Track Every Moment with Care: From Pregnancy to the First 1,000 Days</a:t>
            </a:r>
          </a:p>
          <a:p>
            <a:pPr>
              <a:spcBef>
                <a:spcPts val="1400"/>
              </a:spcBef>
              <a:defRPr sz="1200">
                <a:solidFill>
                  <a:srgbClr val="94A3B8"/>
                </a:solidFill>
              </a:defRPr>
            </a:pPr>
            <a:r>
              <a:t>Maternal &amp; Women's Health Track  |  Patient &amp; Caregiver Long-Term Engagement</a:t>
            </a:r>
          </a:p>
          <a:p>
            <a:pPr>
              <a:spcBef>
                <a:spcPts val="2000"/>
              </a:spcBef>
              <a:defRPr sz="1200">
                <a:solidFill>
                  <a:srgbClr val="E2E8F0"/>
                </a:solidFill>
              </a:defRPr>
            </a:pPr>
            <a:r>
              <a:t>• Modern 3D Stage Progress: Week-by-week fetal growth, trimesters &amp; investigation schedulers</a:t>
            </a:r>
            <a:br/>
            <a:r>
              <a:t>• Daily Garbh Sanskar Rituals: IQ, EQ, PQ, SQ micro-activities &amp; soothing raga lullabies</a:t>
            </a:r>
            <a:br/>
            <a:r>
              <a:t>• Hyperlocal Birth Clubs: Community peer circles with NeMo Guardrails safety moderation</a:t>
            </a:r>
            <a:br/>
            <a:r>
              <a:t>• Multilingual Caregiver Sync: Voice &amp; WhatsApp alerts for partners &amp; elders in native dialects</a:t>
            </a:r>
            <a:br/>
            <a:r>
              <a:t>• 24/7 Offline Sync: Zero data loss even without internet connectivity</a:t>
            </a:r>
          </a:p>
        </p:txBody>
      </p:sp>
      <p:pic>
        <p:nvPicPr>
          <p:cNvPr id="4" name="Picture 3" descr="pillar1_1_hom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475488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APP DESIGN &amp; USER JOURNEY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App Information Architecture &amp; Complete User Journey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llar1_4_home_vit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4937760" cy="4572000"/>
          </a:xfrm>
          <a:prstGeom prst="rect">
            <a:avLst/>
          </a:prstGeom>
        </p:spPr>
      </p:pic>
      <p:pic>
        <p:nvPicPr>
          <p:cNvPr id="5" name="Picture 4" descr="pillar1_3_home_milest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645920"/>
            <a:ext cx="329184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326880" y="1645920"/>
            <a:ext cx="2194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93B67"/>
                </a:solidFill>
              </a:defRPr>
            </a:pPr>
            <a:r>
              <a:t>CORE FLOW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Onboarding Intent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Follow baby growth, learn tips, and plan weeks safely.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Home &amp; 3D Stage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Trimesters, baby size, daily 4Q rituals, and clinic slots.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Smart Tools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Contraction timer, kick counter, MCP card photo scanner.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Birth Clubs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Peer circles with NeMo Guardrails moderation.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Caregiver Hub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Partner sync via WhatsApp &amp; voice alerts in dialects.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APP DESIGN &amp; USER JOURNEY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Modern Design System: 3D Micro-Interactions &amp; Due Date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llar2_1_plans_toolk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4114800" cy="4572000"/>
          </a:xfrm>
          <a:prstGeom prst="rect">
            <a:avLst/>
          </a:prstGeom>
        </p:spPr>
      </p:pic>
      <p:pic>
        <p:nvPicPr>
          <p:cNvPr id="5" name="Picture 4" descr="pillar2_2_kick_coun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41148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326880" y="1645920"/>
            <a:ext cx="2194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93B67"/>
                </a:solidFill>
              </a:defRPr>
            </a:pPr>
            <a:r>
              <a:t>DESIGN HIGHLIGHTS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Flexible Due Date Estimation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Supports Gestational age, LMP date, Conception date, or manual due date.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Tactile 3D Visuals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Apple/peach baby size comparisons &amp; joyful floating heart milestones.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Soft Pastel Tones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Warm rose (#E93B67) and lavender to eliminate clinical stress.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Caregiver First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Simple large buttons designed for low digital literacy.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APP DESIGN &amp; USER JOURNEY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AI Assistant Chat &amp; Signature Experiences (Strictly Non-Clinical)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llar4_2_timed_circ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3840480" cy="4572000"/>
          </a:xfrm>
          <a:prstGeom prst="rect">
            <a:avLst/>
          </a:prstGeom>
        </p:spPr>
      </p:pic>
      <p:pic>
        <p:nvPicPr>
          <p:cNvPr id="5" name="Picture 4" descr="pillar4_4_nutrition_reci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645920"/>
            <a:ext cx="45720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509760" y="1645920"/>
            <a:ext cx="2011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93B67"/>
                </a:solidFill>
              </a:defRPr>
            </a:pPr>
            <a:r>
              <a:t>CORE EXPERIENCES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AI Companion Chat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NeMo Guardrail verified non-medical chat: Nutrition, timeline &amp; wellness.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3D Stage Journey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Trimester rail, Apple-size fetal progress, ultrasound appointments.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4Q Garbh Sanskar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Daily 12 micro-habits &amp; calming raga lullabies.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Birth Clubs</a:t>
            </a:r>
          </a:p>
          <a:p>
            <a:pPr>
              <a:spcBef>
                <a:spcPts val="100"/>
              </a:spcBef>
              <a:defRPr sz="950">
                <a:solidFill>
                  <a:srgbClr val="64748B"/>
                </a:solidFill>
              </a:defRPr>
            </a:pPr>
            <a:r>
              <a:t>Hyperlocal mother circles with peer safety moderation.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APP DESIGN &amp; USER JOURNEY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Enterprise Architecture, Data Protection &amp; 60-90 Day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llar5_2_abha_priv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3474720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389120" y="1645920"/>
            <a:ext cx="347472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1168" lIns="201168" rIns="201168"/>
          <a:lstStyle/>
          <a:p>
            <a:pPr algn="ctr">
              <a:defRPr sz="1500" b="1">
                <a:solidFill>
                  <a:srgbClr val="E93B67"/>
                </a:solidFill>
              </a:defRPr>
            </a:pPr>
            <a:r>
              <a:t>Unified Open-Source Stack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Flutter Mobile App: Native 60-120 FPS iOS &amp; Android with encrypted offline sync.</a:t>
            </a:r>
            <a:br/>
            <a:r>
              <a:t>• React/TypeScript Web: Backup portal for care coordinators.</a:t>
            </a:r>
            <a:br/>
            <a:r>
              <a:t>• Python (FastAPI): Single unified REST &amp; WebSockets backend.</a:t>
            </a:r>
            <a:br/>
            <a:r>
              <a:t>• NVIDIA Nemotron / Llama 3: Open-weights models served on vLLM with PagedAttention.</a:t>
            </a:r>
            <a:br/>
            <a:r>
              <a:t>• Indic NLP: Open-source Whisper &amp; AI4Bharat IndicTrans2 for 10+ Indian languages.</a:t>
            </a:r>
            <a:br/>
            <a:r>
              <a:t>• Enterprise PostgreSQL: Row-level security &amp; immutable audit trail.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45920"/>
            <a:ext cx="3474720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1168" lIns="201168" rIns="201168"/>
          <a:lstStyle/>
          <a:p>
            <a:pPr algn="ctr">
              <a:defRPr sz="1500" b="1">
                <a:solidFill>
                  <a:srgbClr val="6366F1"/>
                </a:solidFill>
              </a:defRPr>
            </a:pPr>
            <a:r>
              <a:t>Safety &amp; 60-90 Day Impact</a:t>
            </a:r>
          </a:p>
          <a:p>
            <a:pPr>
              <a:spcBef>
                <a:spcPts val="800"/>
              </a:spcBef>
              <a:defRPr sz="1050">
                <a:solidFill>
                  <a:srgbClr val="0F172A"/>
                </a:solidFill>
              </a:defRPr>
            </a:pPr>
            <a:r>
              <a:t>• 0% Diagnostic Advice: Strictly non-medical.</a:t>
            </a:r>
            <a:br/>
            <a:r>
              <a:t>• NVIDIA NeMo Guardrails: Intercepts symptoms and routes to PHC emergency.</a:t>
            </a:r>
            <a:br/>
            <a:r>
              <a:t>• Human-in-the-Loop: Clinicians review milestone rosters with 1-click approvals.</a:t>
            </a:r>
            <a:br/>
            <a:r>
              <a:t>• 85% Drop in Admin Burden: Cuts manual ASHA/ANM due-list compilation to &lt;1.5 hrs/week.</a:t>
            </a:r>
            <a:br/>
            <a:r>
              <a:t>• 90%+ Vaccine Adherence: Reduces 6 to 14-week infant immunization dropouts.</a:t>
            </a:r>
            <a:br/>
            <a:r>
              <a:t>• 4x Higher Engagement: Birth Clubs &amp; caregiver WhatsApp synchronization.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